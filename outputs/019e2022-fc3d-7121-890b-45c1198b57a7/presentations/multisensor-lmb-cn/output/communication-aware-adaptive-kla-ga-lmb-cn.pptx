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49727d8fdd48db" /><Relationship Type="http://schemas.openxmlformats.org/officeDocument/2006/relationships/extended-properties" Target="/docProps/app.xml" Id="R29b8606a25a24457" /><Relationship Type="http://schemas.openxmlformats.org/officeDocument/2006/relationships/officeDocument" Target="/ppt/presentation.xml" Id="R4b744c44a5654c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fefd62f2384348"/>
  </p:sldMasterIdLst>
  <p:notesMasterIdLst>
    <p:notesMasterId xmlns:r="http://schemas.openxmlformats.org/officeDocument/2006/relationships" r:id="Rc0a35062a8e54a1d"/>
  </p:notesMasterIdLst>
  <p:sldIdLst>
    <p:sldId xmlns:r="http://schemas.openxmlformats.org/officeDocument/2006/relationships" id="256" r:id="R5d75255236c54457"/>
    <p:sldId xmlns:r="http://schemas.openxmlformats.org/officeDocument/2006/relationships" id="257" r:id="Rbaf6132c0aaa410b"/>
    <p:sldId xmlns:r="http://schemas.openxmlformats.org/officeDocument/2006/relationships" id="258" r:id="R72a925e233154248"/>
    <p:sldId xmlns:r="http://schemas.openxmlformats.org/officeDocument/2006/relationships" id="259" r:id="Rd026900d31da4c20"/>
    <p:sldId xmlns:r="http://schemas.openxmlformats.org/officeDocument/2006/relationships" id="260" r:id="R592d9ffc06eb4426"/>
    <p:sldId xmlns:r="http://schemas.openxmlformats.org/officeDocument/2006/relationships" id="261" r:id="R83e25f9f04e044e8"/>
    <p:sldId xmlns:r="http://schemas.openxmlformats.org/officeDocument/2006/relationships" id="262" r:id="Rd70796a223514f3f"/>
    <p:sldId xmlns:r="http://schemas.openxmlformats.org/officeDocument/2006/relationships" id="263" r:id="R60ff4e82c6cc47c6"/>
    <p:sldId xmlns:r="http://schemas.openxmlformats.org/officeDocument/2006/relationships" id="264" r:id="Re68f6c605443459e"/>
    <p:sldId xmlns:r="http://schemas.openxmlformats.org/officeDocument/2006/relationships" id="265" r:id="R884e44ee2eb9474a"/>
    <p:sldId xmlns:r="http://schemas.openxmlformats.org/officeDocument/2006/relationships" id="266" r:id="Rb444de228fc34a0b"/>
    <p:sldId xmlns:r="http://schemas.openxmlformats.org/officeDocument/2006/relationships" id="267" r:id="Rdbb2be23c7f94a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fefd62f2384348" /><Relationship Type="http://schemas.openxmlformats.org/officeDocument/2006/relationships/theme" Target="/ppt/theme/theme1.xml" Id="R9fe3a589c72a4f4f" /><Relationship Type="http://schemas.openxmlformats.org/officeDocument/2006/relationships/notesMaster" Target="/ppt/notesMasters/notesMaster1.xml" Id="Rc0a35062a8e54a1d" /><Relationship Type="http://schemas.openxmlformats.org/officeDocument/2006/relationships/presProps" Target="/ppt/presProps.xml" Id="R1dab63d283654cea" /><Relationship Type="http://schemas.openxmlformats.org/officeDocument/2006/relationships/viewProps" Target="/ppt/viewProps.xml" Id="R8727134e90be42c5" /><Relationship Type="http://schemas.openxmlformats.org/officeDocument/2006/relationships/tableStyles" Target="/ppt/tableStyles.xml" Id="Rce334b8d02f142f3" /><Relationship Type="http://schemas.openxmlformats.org/officeDocument/2006/relationships/slide" Target="/ppt/slides/slide1.xml" Id="R5d75255236c54457" /><Relationship Type="http://schemas.openxmlformats.org/officeDocument/2006/relationships/slide" Target="/ppt/slides/slide2.xml" Id="Rbaf6132c0aaa410b" /><Relationship Type="http://schemas.openxmlformats.org/officeDocument/2006/relationships/slide" Target="/ppt/slides/slide3.xml" Id="R72a925e233154248" /><Relationship Type="http://schemas.openxmlformats.org/officeDocument/2006/relationships/slide" Target="/ppt/slides/slide4.xml" Id="Rd026900d31da4c20" /><Relationship Type="http://schemas.openxmlformats.org/officeDocument/2006/relationships/slide" Target="/ppt/slides/slide5.xml" Id="R592d9ffc06eb4426" /><Relationship Type="http://schemas.openxmlformats.org/officeDocument/2006/relationships/slide" Target="/ppt/slides/slide6.xml" Id="R83e25f9f04e044e8" /><Relationship Type="http://schemas.openxmlformats.org/officeDocument/2006/relationships/slide" Target="/ppt/slides/slide7.xml" Id="Rd70796a223514f3f" /><Relationship Type="http://schemas.openxmlformats.org/officeDocument/2006/relationships/slide" Target="/ppt/slides/slide8.xml" Id="R60ff4e82c6cc47c6" /><Relationship Type="http://schemas.openxmlformats.org/officeDocument/2006/relationships/slide" Target="/ppt/slides/slide9.xml" Id="Re68f6c605443459e" /><Relationship Type="http://schemas.openxmlformats.org/officeDocument/2006/relationships/slide" Target="/ppt/slides/slide10.xml" Id="R884e44ee2eb9474a" /><Relationship Type="http://schemas.openxmlformats.org/officeDocument/2006/relationships/slide" Target="/ppt/slides/slide11.xml" Id="Rb444de228fc34a0b" /><Relationship Type="http://schemas.openxmlformats.org/officeDocument/2006/relationships/slide" Target="/ppt/slides/slide12.xml" Id="Rdbb2be23c7f94a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4150c66d40440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cb9c3394be4a30" /><Relationship Type="http://schemas.openxmlformats.org/officeDocument/2006/relationships/notesMaster" Target="/ppt/notesMasters/notesMaster1.xml" Id="R8e6a2480e82347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48a87ae6ab41dc" /><Relationship Type="http://schemas.openxmlformats.org/officeDocument/2006/relationships/notesMaster" Target="/ppt/notesMasters/notesMaster1.xml" Id="Rc62d66a697a44c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bef53ea1574295" /><Relationship Type="http://schemas.openxmlformats.org/officeDocument/2006/relationships/notesMaster" Target="/ppt/notesMasters/notesMaster1.xml" Id="R8e10554b123f4f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c64c91764c4aa9" /><Relationship Type="http://schemas.openxmlformats.org/officeDocument/2006/relationships/notesMaster" Target="/ppt/notesMasters/notesMaster1.xml" Id="Rd5e00553f1634e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6970f33f20432b" /><Relationship Type="http://schemas.openxmlformats.org/officeDocument/2006/relationships/notesMaster" Target="/ppt/notesMasters/notesMaster1.xml" Id="R358f3da3af3844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90cae4f03049c3" /><Relationship Type="http://schemas.openxmlformats.org/officeDocument/2006/relationships/notesMaster" Target="/ppt/notesMasters/notesMaster1.xml" Id="R8a5957d779ee41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e5019fb1d64e4d" /><Relationship Type="http://schemas.openxmlformats.org/officeDocument/2006/relationships/notesMaster" Target="/ppt/notesMasters/notesMaster1.xml" Id="R8e9c94cd98884c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73ae0772944994" /><Relationship Type="http://schemas.openxmlformats.org/officeDocument/2006/relationships/notesMaster" Target="/ppt/notesMasters/notesMaster1.xml" Id="Re33eb464ef1e4e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5b501e725642ab" /><Relationship Type="http://schemas.openxmlformats.org/officeDocument/2006/relationships/notesMaster" Target="/ppt/notesMasters/notesMaster1.xml" Id="Rc6b69c55bda048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05a8ddc45d4387" /><Relationship Type="http://schemas.openxmlformats.org/officeDocument/2006/relationships/notesMaster" Target="/ppt/notesMasters/notesMaster1.xml" Id="Ra3a0d1332c7f49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f78fc1ac854313" /><Relationship Type="http://schemas.openxmlformats.org/officeDocument/2006/relationships/notesMaster" Target="/ppt/notesMasters/notesMaster1.xml" Id="R03d8074e1e664c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8927580f1948fe" /><Relationship Type="http://schemas.openxmlformats.org/officeDocument/2006/relationships/notesMaster" Target="/ppt/notesMasters/notesMaster1.xml" Id="R3c7dd80ca78444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550d9010bd449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2d059bd943e4dca" /><Relationship Type="http://schemas.openxmlformats.org/officeDocument/2006/relationships/slideLayout" Target="/ppt/slideLayouts/slideLayout2.xml" Id="R384787a08e0347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4787a08e0347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95de4620234ae4" /><Relationship Type="http://schemas.openxmlformats.org/officeDocument/2006/relationships/notesSlide" Target="/ppt/notesSlides/notesSlide1.xml" Id="R1fa63dbb515747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e19be9dac44400" /><Relationship Type="http://schemas.openxmlformats.org/officeDocument/2006/relationships/notesSlide" Target="/ppt/notesSlides/notesSlide2.xml" Id="Rc95b326c69224b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2541882df44b5d" /><Relationship Type="http://schemas.openxmlformats.org/officeDocument/2006/relationships/image" Target="/ppt/media/image.png" Id="R832ae2d2db7144de" /><Relationship Type="http://schemas.openxmlformats.org/officeDocument/2006/relationships/notesSlide" Target="/ppt/notesSlides/notesSlide3.xml" Id="R731b307321944d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46978eb3ea409d" /><Relationship Type="http://schemas.openxmlformats.org/officeDocument/2006/relationships/image" Target="/ppt/media/image2.png" Id="R4e08c396b1c44aee" /><Relationship Type="http://schemas.openxmlformats.org/officeDocument/2006/relationships/notesSlide" Target="/ppt/notesSlides/notesSlide4.xml" Id="R7a5b33f38e0840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fa665ec59a4bbd" /><Relationship Type="http://schemas.openxmlformats.org/officeDocument/2006/relationships/image" Target="/ppt/media/image3.png" Id="R4877b95cfd694e8a" /><Relationship Type="http://schemas.openxmlformats.org/officeDocument/2006/relationships/notesSlide" Target="/ppt/notesSlides/notesSlide5.xml" Id="R997484e46fb446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0ccc3dc0d84d2a" /><Relationship Type="http://schemas.openxmlformats.org/officeDocument/2006/relationships/image" Target="/ppt/media/image4.png" Id="R70db50b536114d21" /><Relationship Type="http://schemas.openxmlformats.org/officeDocument/2006/relationships/notesSlide" Target="/ppt/notesSlides/notesSlide6.xml" Id="R8c9941745c1941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31504f6e0643a5" /><Relationship Type="http://schemas.openxmlformats.org/officeDocument/2006/relationships/notesSlide" Target="/ppt/notesSlides/notesSlide7.xml" Id="R29ea184fb8114e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86ea3d6f69497c" /><Relationship Type="http://schemas.openxmlformats.org/officeDocument/2006/relationships/image" Target="/ppt/media/image5.png" Id="R3b94f5514c9345b5" /><Relationship Type="http://schemas.openxmlformats.org/officeDocument/2006/relationships/notesSlide" Target="/ppt/notesSlides/notesSlide8.xml" Id="Re062bf9ff67445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b22cbd9b3a4cde" /><Relationship Type="http://schemas.openxmlformats.org/officeDocument/2006/relationships/notesSlide" Target="/ppt/notesSlides/notesSlide9.xml" Id="R86f3a5c7a11f4b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8695d374474dbd" /><Relationship Type="http://schemas.openxmlformats.org/officeDocument/2006/relationships/image" Target="/ppt/media/image6.png" Id="R02607631841c4d01" /><Relationship Type="http://schemas.openxmlformats.org/officeDocument/2006/relationships/notesSlide" Target="/ppt/notesSlides/notesSlide10.xml" Id="R0339e71cd5c94f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988ac7e4cb481c" /><Relationship Type="http://schemas.openxmlformats.org/officeDocument/2006/relationships/image" Target="/ppt/media/image7.png" Id="Rb054193fe8d14280" /><Relationship Type="http://schemas.openxmlformats.org/officeDocument/2006/relationships/notesSlide" Target="/ppt/notesSlides/notesSlide11.xml" Id="R30576687a64342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52dbafdaf74639" /><Relationship Type="http://schemas.openxmlformats.org/officeDocument/2006/relationships/notesSlide" Target="/ppt/notesSlides/notesSlide12.xml" Id="R6816dfd44c5a4ea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E80A61D-D3A3-4C86-B495-527D6471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03DE5-D336-4D7C-AE7E-8DDD9BBA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63718-5C2C-44FC-9DA2-D45C5897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E83EC-221B-487D-B415-0F974C52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638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通信感知自适应权重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E90AE-DFC8-4E91-8318-1B62915F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用于分布式 GA-LMB / KLA 融合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CF5F1-CED6-45C0-9459-0F9A2E0E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619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当前主线不是重做滤波器，而是在 unknown cross-correlation 下重做融合权重分配：让权重同时感知后验质量、实际链路质量和存在性决断度。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6E4C9-36B3-4A35-A9D0-E36E2EEA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81375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E9F91-BEAC-4B71-AB26-642CFB79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099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B87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176B87"/>
                </a:solidFill>
                <a:latin typeface="Menlo"/>
                <a:ea typeface="Menlo"/>
                <a:cs typeface="Menlo"/>
              </a:rPr>
              <a:t>GA-LMB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CCFB0-5A6E-41E2-8E15-AC8BA343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813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65F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86F6D-A638-4E5C-8A42-7880DE1B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099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65F38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B65F38"/>
                </a:solidFill>
                <a:latin typeface="Menlo"/>
                <a:ea typeface="Menlo"/>
                <a:cs typeface="Menlo"/>
              </a:rPr>
              <a:t>distributed KLA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D9EDDB-7AB0-461C-9188-3DAE5F71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8137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E7D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8BD8C-6A20-488C-AF8E-835DD874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409950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D6B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2E7D6B"/>
                </a:solidFill>
                <a:latin typeface="Menlo"/>
                <a:ea typeface="Menlo"/>
                <a:cs typeface="Menlo"/>
              </a:rPr>
              <a:t>consensus-oriented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0FF0E-0392-42ED-B46F-873A4807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158343">
            <a:off x="5905500" y="4524375"/>
            <a:ext cx="72970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22FA1-4ABD-49E2-B696-0EF36893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87811">
            <a:off x="6496050" y="4095750"/>
            <a:ext cx="80083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C7881-ECBB-4459-ABA4-A5837A9E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1955">
            <a:off x="5905500" y="4524375"/>
            <a:ext cx="99443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CBE36-CFB1-4C53-8468-588AD84C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93903">
            <a:off x="5905500" y="4524375"/>
            <a:ext cx="116754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079FDB-1302-4273-9DCD-4EB6F039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333661">
            <a:off x="4762500" y="4762500"/>
            <a:ext cx="80844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486740-1233-4F69-8AFC-951403B5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716628">
            <a:off x="4762500" y="4762500"/>
            <a:ext cx="119347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7CF47-F4C3-41C4-9F2C-01A7C7BA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151728">
            <a:off x="6858000" y="4810125"/>
            <a:ext cx="87816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3FCA44-9976-406B-83EE-26C8B184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030">
            <a:off x="5810250" y="5334000"/>
            <a:ext cx="91979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43256-28C5-43FA-BC25-F8D0593E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481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69C4D0-E8B8-499F-8CD9-011A310A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9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7C0324-05CB-4C70-8FD8-04E8C5F0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339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B4B5B6-C174-42CD-94A6-55D6FEF9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2578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152880-3897-4D9D-9D00-75B93906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863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F46638-9BE6-4A23-B359-61D66484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19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3E6775-A4D0-45B2-97EA-F8B3E3CD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5911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26AC38-D72D-411E-B923-BB99BC07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055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8-sensor distributed fusion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6055A7-7ADD-4600-8525-0B435D6A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67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B0BE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7B0BE"/>
                </a:solidFill>
                <a:latin typeface="Menlo"/>
                <a:ea typeface="Menlo"/>
                <a:cs typeface="Menlo"/>
              </a:rPr>
              <a:t>headline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FCD405-DC23-4069-9016-D50343C4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620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31.98%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712C61-4F61-4012-8EF5-D8D61EC7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rPr>
              <a:t>consensus OSPA 下降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0BD7AB-0623-43E8-812F-43C74714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B73E5D-B4B0-45E7-A988-366EAAE5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9DD6C6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9DD6C6"/>
                </a:solidFill>
                <a:latin typeface="PingFang SC"/>
                <a:ea typeface="PingFang SC"/>
                <a:cs typeface="PingFang SC"/>
              </a:rPr>
              <a:t>34.57%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C5BB77-5884-46F7-B8D3-3002352F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rPr>
              <a:t>consensus RMSE 下降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221E0F-23A0-48E4-9B72-04550BEC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1947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09EE8B-5245-469E-829D-60D49F3D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1C46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1C46B"/>
                </a:solidFill>
                <a:latin typeface="PingFang SC"/>
                <a:ea typeface="PingFang SC"/>
                <a:cs typeface="PingFang SC"/>
              </a:rPr>
              <a:t>91.46%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BF788E-1D0B-43A2-97FF-6617C609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rPr>
              <a:t>cardinality disagreement 下降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A7822B-9A43-4007-8260-B9FF9203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95875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CED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8CED8"/>
                </a:solidFill>
                <a:latin typeface="PingFang SC"/>
                <a:ea typeface="PingFang SC"/>
                <a:cs typeface="PingFang SC"/>
              </a:rPr>
              <a:t>20 paired trials, seeds 2-21</a:t>
            </a:r>
          </a:p>
          <a:p xmlns:a="http://schemas.openxmlformats.org/drawingml/2006/main">
            <a:pPr algn="l">
              <a:defRPr sz="1200" b="0">
                <a:solidFill>
                  <a:srgbClr val="C8CED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8CED8"/>
                </a:solidFill>
                <a:latin typeface="PingFang SC"/>
                <a:ea typeface="PingFang SC"/>
                <a:cs typeface="PingFang SC"/>
              </a:rPr>
              <a:t>main tiered heterogeneous packet-loss scenario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A85307-2F1F-4D3E-80BA-8C32FD3B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F44805-BE93-4F18-9C3B-13675A23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Source: docs/paper/README.md; RUN/GA/GA_TIERED_LINK_ABLATION_N20_SEED1_20260512_155714.md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D7444E-381D-4D6E-9F67-E22295DB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725017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CDD5894-5374-4CD8-8378-723AB853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9231C620-4B75-4BE0-8A24-C4C12426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7EA31244-095E-451B-9CF3-2465CC44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37083"/>
                </a:solidFill>
                <a:latin typeface="Menlo"/>
                <a:ea typeface="Menlo"/>
                <a:cs typeface="Menlo"/>
              </a:rPr>
              <a:t>POSITIONING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3656D-4FA5-4942-B623-CB38B1F1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论文边界要先收紧：贡献是自适应融合权重，而不是新滤波器家族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59A3C-AA33-499B-AFA8-D47A6C97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这会让方法、实验和结论都围绕 distributed KLA-based LMB fusion 的同一个成功标准展开。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3FF88-27A5-4B45-8487-83DFD786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312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14B37-0A49-4EA6-83F1-13088881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76B87"/>
                </a:solidFill>
                <a:latin typeface="Menlo"/>
                <a:ea typeface="Menlo"/>
                <a:cs typeface="Menlo"/>
              </a:rPr>
              <a:t>问题设定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C4445-3616-40B6-AA9B-91C0EFD1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通信受限的分布式 GA-LMB / KLA 融合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20D6C-8FC4-4051-A283-A6A64FFD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7A0C4-984A-4C8B-B517-329C77F1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2952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unknown cross-correlation 下 KLA 仍是合理基线；真正脆弱的是固定或纯拓扑权重。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72916-DB1F-441A-9709-D5CA08BB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312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E3F02-3CFC-430A-B4ED-2A262CCA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098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5F3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B65F38"/>
                </a:solidFill>
                <a:latin typeface="Menlo"/>
                <a:ea typeface="Menlo"/>
                <a:cs typeface="Menlo"/>
              </a:rPr>
              <a:t>方法焦点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20474-536D-45C6-9AE0-FFFBDDDA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908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三因子权重 backbone + 分支化 refinement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82A03-64F5-4C7A-95E8-14085DEF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290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09EA1F-6391-4F04-A158-7389A673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57650"/>
            <a:ext cx="2952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covariance、realized link quality、existence confidence 是主干；FID-FIA 只进 existence 分支。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97A21A-1B5A-45A0-9966-432F5DE4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312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3972D-5A5E-45C0-9B34-75B64E99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098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6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2E7D6B"/>
                </a:solidFill>
                <a:latin typeface="Menlo"/>
                <a:ea typeface="Menlo"/>
                <a:cs typeface="Menlo"/>
              </a:rPr>
              <a:t>成功标准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D6F2A-61AE-42EA-A0F6-35A01FF3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908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优先改善跨节点 consensus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FBEC51-AE98-44A8-8E09-EF070CE7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DCE07-DAB3-4FB5-A7EB-393C3B9D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57650"/>
            <a:ext cx="2952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consensus OSPA/RMSE/cardinality 是 primary；local tracking 作为 safeguard，防止一致到错误答案。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3D447F-8C42-44B3-BF4A-C874AA0E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014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91C2DE-8648-4DDD-9E04-47BF47D4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不要把正文写散：history / freshness / association ambiguity / NIS 只能作为 secondary 或 appendix evidence。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B5432A-FA37-40BE-BB89-098DD74E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71500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7B0A23-F42E-4460-BC66-FE50AB30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7340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主 claim 必须能回到：adaptive weight allocation under communication constraints。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186549-529F-4236-9B95-A58CEB18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9B3388-3368-494D-8440-F9ECFDD2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Source: docs/paper/00_positioning.md; docs/paper_line/PAPER_MAIN_NARRATIVE_LOGIC_CN.md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383528-6EBD-4990-A260-CE8FB39B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281145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44FF20F-6D2C-44E8-8033-47A64934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26631322-28E9-411D-A5FF-E4898397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ACDFCD7F-2171-4407-99D1-F94F0D1B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37083"/>
                </a:solidFill>
                <a:latin typeface="Menlo"/>
                <a:ea typeface="Menlo"/>
                <a:cs typeface="Menlo"/>
              </a:rPr>
              <a:t>SCENARIO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2B38C-A39A-473A-B11B-1D5AD597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9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主场景保留原 4+4 编队，但用异构通信把固定权重的弱点放大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61584-64FA-4CF1-9DFA-B090C322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2390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ae2d2db7144de"/>
          <a:stretch xmlns:a="http://schemas.openxmlformats.org/drawingml/2006/main"/>
        </p:blipFill>
        <p:spPr>
          <a:xfrm xmlns:a="http://schemas.openxmlformats.org/drawingml/2006/main">
            <a:off x="762000" y="2367680"/>
            <a:ext cx="6819900" cy="294179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FB4CB-378D-4646-AA99-D82F35D5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0289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A078C-CDE6-41DC-B939-114DE9AF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43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0BE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A7B0BE"/>
                </a:solidFill>
                <a:latin typeface="Menlo"/>
                <a:ea typeface="Menlo"/>
                <a:cs typeface="Menlo"/>
              </a:rPr>
              <a:t>evaluation frame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483FD-64F2-4347-8FC6-53CF6890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1B6D9-3F8B-43C6-A7BF-44F28D35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622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rPr>
              <a:t>mobile sensors, two 4-sensor formations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278AE-A067-40C6-8BB6-A466B1CA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7182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9DD6C6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DD6C6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541F2-749C-42CF-9F08-56DB2195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29025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rPr>
              <a:t>targets in 3 + 3 + 4 staggered births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B5026-4DD4-469F-98BD-C03D091C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386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1C46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1C46B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E4672-8AFF-4BE5-8970-4061FFB3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958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rPr>
              <a:t>simulation steps; MC means reported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7C7C9-4F5A-4313-9672-84E09700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482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ED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C8CED8"/>
                </a:solidFill>
                <a:latin typeface="PingFang SC"/>
                <a:ea typeface="PingFang SC"/>
                <a:cs typeface="PingFang SC"/>
              </a:rPr>
              <a:t>tiered packet loss: [0, 0.1, 0.2, 0.5]</a:t>
            </a:r>
          </a:p>
          <a:p xmlns:a="http://schemas.openxmlformats.org/drawingml/2006/main">
            <a:pPr algn="l">
              <a:defRPr sz="1050" b="0">
                <a:solidFill>
                  <a:srgbClr val="C8CED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C8CED8"/>
                </a:solidFill>
                <a:latin typeface="PingFang SC"/>
                <a:ea typeface="PingFang SC"/>
                <a:cs typeface="PingFang SC"/>
              </a:rPr>
              <a:t>level counts: [1, 4, 1, 2]</a:t>
            </a:r>
          </a:p>
          <a:p xmlns:a="http://schemas.openxmlformats.org/drawingml/2006/main">
            <a:pPr algn="l">
              <a:defRPr sz="1050" b="0">
                <a:solidFill>
                  <a:srgbClr val="C8CED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C8CED8"/>
                </a:solidFill>
                <a:latin typeface="PingFang SC"/>
                <a:ea typeface="PingFang SC"/>
                <a:cs typeface="PingFang SC"/>
              </a:rPr>
              <a:t>mean pDrop preserved at 0.2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3427A-3077-4C6B-9EEC-E42C8414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721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BB68CF-1F7E-4EF1-B01B-905B8DE8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24550"/>
            <a:ext cx="984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通信图：formation 内部强连接，跨 formation 一对一连接。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9D56B4-824E-4A1B-8067-5F19FB14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BFDD41-6B86-418A-B409-30A0ECB9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0300"/>
            <a:ext cx="984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固定基线：local neighborhood 内 Metropolis weights；main paper evidence 以 tiered-drop GA 为主。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53D14D-8E48-41A2-97F8-BDE7B5F8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CB53B9-F41E-43BC-9347-F0984BBC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Source: docs/paper/06_experimental_setup.md; docs/paper/figures/figure_simulation_scenario.pdf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C55EE0-B042-4353-AF17-AF54076C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4391382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4DA5A2F-6167-4BC7-B27B-3C723087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5B062046-9947-4DA6-B534-F445CB20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B01E47AB-C1E6-4655-B271-C61815F6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37083"/>
                </a:solidFill>
                <a:latin typeface="Menlo"/>
                <a:ea typeface="Menlo"/>
                <a:cs typeface="Menlo"/>
              </a:rPr>
              <a:t>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BBCA0-ACC9-4C80-B441-2A3E3931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方法嵌入现有分布式 GA-LMB 流水线，只改变邻域融合权重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8FB0F-839A-4B2D-8F07-8601360E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04950"/>
            <a:ext cx="619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8c396b1c44aee"/>
          <a:stretch xmlns:a="http://schemas.openxmlformats.org/drawingml/2006/main"/>
        </p:blipFill>
        <p:spPr>
          <a:xfrm xmlns:a="http://schemas.openxmlformats.org/drawingml/2006/main">
            <a:off x="5191125" y="1740194"/>
            <a:ext cx="5715000" cy="362526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EA2B4-3FED-4BDE-AB83-D52E6462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812B9-ABDA-461E-AEC6-E6B5B3AD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83112-A4DC-4B61-A5F1-89DB39C0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383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37083"/>
                </a:solidFill>
                <a:latin typeface="Menlo"/>
                <a:ea typeface="Menlo"/>
                <a:cs typeface="Menlo"/>
              </a:rPr>
              <a:t>local measurement update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AF066-3827-444F-B40F-61A427D0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050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各节点先得到自己的 LMB posterior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34C41-1D82-4003-91FC-5B1FE9B4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336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39AB4-6AAB-40E6-A5ED-0FDB863B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4A406-3A20-4968-9C04-7BB1EA20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98A10-B2FF-40FC-896C-6285A867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527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37083"/>
                </a:solidFill>
                <a:latin typeface="Menlo"/>
                <a:ea typeface="Menlo"/>
                <a:cs typeface="Menlo"/>
              </a:rPr>
              <a:t>neighborhood communication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028C70-8B55-4F63-AC19-7DD7B7FE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194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带 bandwidth / packet loss 的消息交换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AF9A82-0365-4558-A059-655D7ABF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80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5E54F-9016-4277-9542-71AFC8FD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C6729D-EA00-4D21-BDD8-805419A8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8A4FF3-2342-4FFD-A578-A0B387DA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671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37083"/>
                </a:solidFill>
                <a:latin typeface="Menlo"/>
                <a:ea typeface="Menlo"/>
                <a:cs typeface="Menlo"/>
              </a:rPr>
              <a:t>adaptive fusion weights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9D2EB-4CF6-4120-8176-CC93EF2C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338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按 posterior quality + link + existence 重分配权重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B71F2-EA7F-4BD1-860D-202361AF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624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92B9CC-B675-4AA2-AEF2-93D4584D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5EE6D9-8011-4252-8690-2FBD2C1A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A260D2-681A-419E-A6BB-19F062CC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815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37083"/>
                </a:solidFill>
                <a:latin typeface="Menlo"/>
                <a:ea typeface="Menlo"/>
                <a:cs typeface="Menlo"/>
              </a:rPr>
              <a:t>branch-decoupled KLA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CD9940-17FD-4CE2-A24F-56010B62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482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spatial 与 existence 分支分别融合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E0C1E5-1E6D-49CC-87C4-0BF5CE2E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4FA6A4-CD37-4E60-99D3-FEC7B95F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981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因此 slide 里的技术说法应保持克制：这是 conservative KLA fusion 的权重分配改进，而不是替换 LMB/GA/KLA 框架。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1496BD-CC07-4D54-B09A-1DAA28D4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9F3B78-FEC6-4CAD-878F-209B8DB5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Source: docs/paper/05_method_adaptive_kla.md; docs/paper/els-cas-templates/figs/paper-figure1-crop.png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414C6B-25A3-445E-9950-76CE6BF5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42335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DA582DB-1B26-40A6-8B6D-1CCCF97B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7C579B1A-2C5A-4C97-81C9-7FD98873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D7F8CAAF-9D31-4CA0-80B9-D7FF7A95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37083"/>
                </a:solidFill>
                <a:latin typeface="Menlo"/>
                <a:ea typeface="Menlo"/>
                <a:cs typeface="Menlo"/>
              </a:rPr>
              <a:t>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684B6-7F29-46FD-8880-91875F36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38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三因子 backbone 是主干；branch decoupling 和 FID-FIA 是分支化 refinement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54522-9FA0-4467-AE67-E9418E4F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02870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7b95cfd694e8a"/>
          <a:stretch xmlns:a="http://schemas.openxmlformats.org/drawingml/2006/main"/>
        </p:blipFill>
        <p:spPr>
          <a:xfrm xmlns:a="http://schemas.openxmlformats.org/drawingml/2006/main">
            <a:off x="2246602" y="1695450"/>
            <a:ext cx="6898695" cy="2609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0547B-63EF-4555-AA72-1B3DE20F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2971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EF728-FC8F-4CBB-BB2B-690330CA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B87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176B87"/>
                </a:solidFill>
                <a:latin typeface="Menlo"/>
                <a:ea typeface="Menlo"/>
                <a:cs typeface="Menlo"/>
              </a:rPr>
              <a:t>shared backbone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89767-5733-462A-84EA-E0161D04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mask x covariance x link quality x existence confidence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D5457-BBA4-4226-A938-E2F65DB4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905375"/>
            <a:ext cx="2971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FB612-32F1-4A23-92C3-352098C7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054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7D6B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2E7D6B"/>
                </a:solidFill>
                <a:latin typeface="Menlo"/>
                <a:ea typeface="Menlo"/>
                <a:cs typeface="Menlo"/>
              </a:rPr>
              <a:t>spatial branch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A2285-5F0A-48BA-BD57-190D4F2B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3911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cov/link + weak structure prior, keep RMSE-oriented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E8F43-DDDC-407C-B313-54DAA5DD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05375"/>
            <a:ext cx="2971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80D42-57CA-4AF3-B8FA-8E1D7A51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054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F38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B65F38"/>
                </a:solidFill>
                <a:latin typeface="Menlo"/>
                <a:ea typeface="Menlo"/>
                <a:cs typeface="Menlo"/>
              </a:rPr>
              <a:t>existence branch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C83C43-7671-439F-BD67-FF9640F7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911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existence confidence + FID-FIA cue, target cardinality agreement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C039BB-2886-43E2-88B1-6F7F47A0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6370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2E858E-A763-4951-BE0E-9F3043D5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086475"/>
            <a:ext cx="3257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637083"/>
                </a:solidFill>
                <a:latin typeface="Menlo"/>
                <a:ea typeface="Menlo"/>
                <a:cs typeface="Menlo"/>
              </a:rPr>
              <a:t>NIS / history / freshness: optional, not headline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2E0923-F0D3-47E5-A324-2D3AB6A7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057900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讲法重点：不是“模块越多越好”，而是把能被证据支持的信号放进对应分支。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687692-2FEC-41B0-8197-31F27E69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C05B0-EF4C-4110-9090-BE6434C2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Source: docs/paper/05_method_adaptive_kla.md; docs/paper/els-cas-templates/figs/paper-figure2-crop.png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6DBFEA-A7B3-4F2F-9118-54937639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869667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728A370-A913-484F-84B1-AA3F84BE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BBA51449-6BC8-47C1-B190-1864F1A7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0084A2AC-EF92-4B44-98C1-0CCB6B7B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37083"/>
                </a:solidFill>
                <a:latin typeface="Menlo"/>
                <a:ea typeface="Menlo"/>
                <a:cs typeface="Menlo"/>
              </a:rPr>
              <a:t>EXISTENCE CONFIDENCE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7087A-4D53-40F5-89D3-37C2F688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existence confidence 补上 covariance 和 link quality 看不到的一维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546FA-5048-4BE4-A896-1EB673F9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57150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db50b536114d21"/>
          <a:stretch xmlns:a="http://schemas.openxmlformats.org/drawingml/2006/main"/>
        </p:blipFill>
        <p:spPr>
          <a:xfrm xmlns:a="http://schemas.openxmlformats.org/drawingml/2006/main">
            <a:off x="742950" y="2089822"/>
            <a:ext cx="5334000" cy="229735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74572-6691-4171-881C-3B9EEF9B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38300"/>
            <a:ext cx="3981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9F56B-3611-4D4F-A288-A29767B4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85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B0BE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7B0BE"/>
                </a:solidFill>
                <a:latin typeface="Menlo"/>
                <a:ea typeface="Menlo"/>
                <a:cs typeface="Menlo"/>
              </a:rPr>
              <a:t>Bernoulli decisiveness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725D4-682B-4991-B421-7CBD6EAC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098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7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c = |2r - 1|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77A29-4F7E-437D-948A-19A2AE3E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241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CED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8CED8"/>
                </a:solidFill>
                <a:latin typeface="PingFang SC"/>
                <a:ea typeface="PingFang SC"/>
                <a:cs typeface="PingFang SC"/>
              </a:rPr>
              <a:t>r 接近 0 或 1 时更果断；r 接近 0.5 时更模糊。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E8EB1-06F8-4BAF-9251-91D63A5A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99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F3BEB-51CF-472D-9A3B-CDCD1CF8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62350"/>
            <a:ext cx="3943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covariance: 只看空间集中度，不表达目标是否存在。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53E05-0DA9-409B-9FB0-B1ED8B0D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624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1FBA39-AB34-4452-BA9C-9AB82780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14800"/>
            <a:ext cx="3943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link quality: 只看信息是否送达，不表达 posterior content 是否可信。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8BA6B-DBD9-4A9C-84CB-C1B46A61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148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6A872-947D-495A-A331-CC7A3F41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67250"/>
            <a:ext cx="3943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existence confidence: 给 cardinality / existence 分支一个直接信号。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BF781-6622-4952-A62F-3E91749A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BE0ABF-3C54-402D-A882-48183C19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952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这也是为什么最终方法不把 FID-FIA 作为 whole-posterior scalar weight，而是只把它作为 existence/cardinality cue。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B0380-544D-4523-AAB4-DCD11C8C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9F4D0F-6F1D-49EC-BB0D-FF374281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Source: docs/paper/05_method_adaptive_kla.md; docs/paper/figures/figure3_existence_confidence_curve.png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F8DC50-1AF1-47C2-9C05-B7327646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593373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334BEC6-BEB6-4763-AB63-D7E562EA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5754BFD5-E282-4F5D-B21D-AAC4C568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940577F4-E8B9-4161-B234-4A37F7DC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37083"/>
                </a:solidFill>
                <a:latin typeface="Menlo"/>
                <a:ea typeface="Menlo"/>
                <a:cs typeface="Menlo"/>
              </a:rPr>
              <a:t>EVIDENCE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F0789-391D-4B26-9701-F0E28C67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证据要分层：主线讲最强结果，弱模块留作 appendix 解释取舍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42F24-E71F-45B9-BBDC-9A983B90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96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043C8-B212-4B4C-8F7E-E28A958B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526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PRIMARY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152B8-B2BF-4F1A-8696-61C9FE28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002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D955B-A636-4089-A1CC-1659658F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tiered packet-loss main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CDC3E-27F4-4636-9072-6CF19C2E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62150"/>
            <a:ext cx="419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20 paired trials: fixed / FID-FIA / backbone / proposed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BD028-3CA6-4BEE-A4F4-577AA5F8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52650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77062-8227-461F-99DC-BE71BF55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96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05D87-DCC7-4222-9297-4727AECF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B87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76B87"/>
                </a:solidFill>
                <a:latin typeface="Menlo"/>
                <a:ea typeface="Menlo"/>
                <a:cs typeface="Menlo"/>
              </a:rPr>
              <a:t>DIAGNOSTIC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C43E2F-67BE-48EA-84AB-8423156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908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29645-0F96-4E17-8ECB-BF721BC7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098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factor ablation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B810A-5983-4E57-867D-786B7DC2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419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fixed -&gt; cov -&gt; link -&gt; exist -&gt; decoupled -&gt; FID-FIA existence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0AEF36-F5B2-4495-BCA7-BC7F3A0E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43250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79E629-F067-4150-970B-26F221D5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196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9B5423-B6BF-40C9-B48F-72B98BE8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6B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E7D6B"/>
                </a:solidFill>
                <a:latin typeface="Menlo"/>
                <a:ea typeface="Menlo"/>
                <a:cs typeface="Menlo"/>
              </a:rPr>
              <a:t>SUPPORT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210089-4AB4-4754-9C93-DB237ABC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814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74138C-09EF-450B-84ED-90F2467A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004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ideal communication + AA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F8FC11-FB48-402C-82C0-CCB3E655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43350"/>
            <a:ext cx="419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回答是否只是补救丢包；AA 只作外推迹象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EB464F-9084-4C3F-979A-D6A3DF4A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33850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34CC07-05D9-49A6-858E-4AB8C68C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96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F1A346-D8DE-4EE7-AAD7-36D6F192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244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637083"/>
                </a:solidFill>
                <a:latin typeface="Menlo"/>
                <a:ea typeface="Menlo"/>
                <a:cs typeface="Menlo"/>
              </a:rPr>
              <a:t>APPENDIX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7F91E0-A115-4344-A534-1E126A9D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0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8EF324-8E72-41AB-ADDC-7C17FCA0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910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NIS / history / freshness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C22D9D-6BC5-4F19-BFC2-6CAE75C9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33950"/>
            <a:ext cx="419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记录探索过的方向，但当前证据弱、混合或负向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1741FE-596B-4891-847D-D25C7EA9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04950"/>
            <a:ext cx="2381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AFD537-0772-4080-825D-F4C29BE1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71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B0BE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7B0BE"/>
                </a:solidFill>
                <a:latin typeface="Menlo"/>
                <a:ea typeface="Menlo"/>
                <a:cs typeface="Menlo"/>
              </a:rPr>
              <a:t>deck rule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4B4E74-3DE4-4567-B94C-442170C0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9075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4CAD72-AC9E-4849-9B9F-4C6F98C1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47950"/>
            <a:ext cx="1666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rPr>
              <a:t>每页一个 claim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B213E4-256C-4381-8B41-785EA42C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0515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9DD6C6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9DD6C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1AD3AF-C764-485E-A551-C07D3EC3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62350"/>
            <a:ext cx="1666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rPr>
              <a:t>一个 proof object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528065-D31B-4EAF-AEAA-91A8D827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1955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1C46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1C46B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59EF5C-4021-4A37-8C97-F9F666F5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76750"/>
            <a:ext cx="1666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rPr>
              <a:t>不讲未被证据支持的创新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A3ADF2-EA59-4AEC-85F0-AC2E612C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6114D0-63A0-4F88-9EE7-4816D3A8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这样排布能解释为什么 main paper 不把 NIS/history/freshness 写成贡献，同时也不浪费已有负结果材料。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000A60-98C5-428D-A1B1-94CECA61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61C1DB-4C29-493F-98F0-425A3095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Source: docs/paper/09_figures_tables_and_gaps.md; docs/paper/Appendix_B_additional_attempts.md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E73A9D-5319-4B65-B733-5C780D66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260305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AD9CFB7-C260-4BDE-B680-0F88D08D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383FDD4B-EE17-458A-B6E9-6874ED33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1DD15F59-02C3-4CF0-BDFC-4ACDF3AB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37083"/>
                </a:solidFill>
                <a:latin typeface="Menlo"/>
                <a:ea typeface="Menlo"/>
                <a:cs typeface="Menlo"/>
              </a:rPr>
              <a:t>MAIN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184E0-1351-47BE-AB5F-4790AD69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tiered-drop 20-trial 主结果：proposed arm 在三项 consensus 指标上全优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3197A-BC2C-434E-A419-2469FA2D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OSPA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E52CE-3AE6-4094-826D-C960C0FB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14525"/>
            <a:ext cx="3562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95DEE-F5E7-48A2-B80B-33B9A21A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14525"/>
            <a:ext cx="323735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D31E8-F645-4F27-BC36-A94DD097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fixed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553D7-C0E3-4D6E-8C2E-E465A75F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907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2.454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336B7-BB50-493A-B151-AC109BE4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62175"/>
            <a:ext cx="3562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BFFD6-AEE6-4680-98C3-E57296C9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62175"/>
            <a:ext cx="240159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AFF22-F41B-47D9-A78B-A6B1080A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FID-FIA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3381F-AF7C-4567-957C-76188CAB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383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1.820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08A433-CE00-4164-B1D9-530DE85C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9825"/>
            <a:ext cx="3562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536B9-A08E-432A-A3B5-FBA244E6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9825"/>
            <a:ext cx="2356261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DB802F-6F7D-4790-BBEE-E6FB166B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86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backbone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A482B5-DA62-46ED-B52F-A68E68C1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1.786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BA4C0-C670-49BC-AC80-031D59AD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57475"/>
            <a:ext cx="3562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DD3463-D8C8-4162-983E-C86028E9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57475"/>
            <a:ext cx="2202009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6C93AE-4DCC-45E2-B3FE-1029A640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33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proposed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52B3A6-5B51-426D-9914-5C7539CA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336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1.669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B32726-AC1A-4AA6-8A26-15757004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RMSE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139B80-8E67-4486-B77F-80F193AE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95625"/>
            <a:ext cx="3562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7EBBCC-6C57-4739-B087-03FC59F2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95625"/>
            <a:ext cx="308144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FD8879-119F-44B2-9B57-70E800E1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71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fixed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26F4D1-1ADD-4EA7-85F5-6C95F381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718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2.336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BBDC4F-1448-4F3E-BDB6-C70D471D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43275"/>
            <a:ext cx="3562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0FD5B6-8EBD-4994-B1CB-3539368B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43275"/>
            <a:ext cx="2173577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DB2D52-F8C0-452E-BC12-9AC6E429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19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FID-FIA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418A0C-D554-4CFC-9D38-B142154B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194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1.647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37C95D-7FAF-470C-9EC5-C32E4CD0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90925"/>
            <a:ext cx="3562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AFC4AC-54A7-44E0-A53B-77CB89F1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90925"/>
            <a:ext cx="206157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0BC456-34B6-4B54-B4E6-9E1DC11D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671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backbone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3474F9-EB61-421F-8321-0471E068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671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1.563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B6DCEF-42B9-4608-A203-00B476BC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38575"/>
            <a:ext cx="3562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9E7E4B-62DE-451E-BF16-102DAD6B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38575"/>
            <a:ext cx="2016266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649080-4968-4C37-8296-BCB403EB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proposed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35D767-88AB-4CBA-AEA7-10D378BA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147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1.528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B55238-D7AE-4121-918C-00BB8342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CARD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BBED5C-DE5E-499B-BFA1-40627961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3562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19CE6D-C77C-49BD-8031-5976780F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94286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4E649F-4E37-4127-9046-C5C4AF1D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529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fixed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857230-97DD-4D6C-A3DC-B85D3DB6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529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0.715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780E54-DDFE-4658-BBDD-89DE4A91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24375"/>
            <a:ext cx="3562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D3D548-34E1-466A-983B-5047C3D4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24375"/>
            <a:ext cx="166491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5C5A29-643A-499A-B780-02683E45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005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FID-FIA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23F7F7-DBAD-40A0-9981-C84E5F6F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005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0.126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90078B-C1D0-4C8A-90EF-CF3DC637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72025"/>
            <a:ext cx="3562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C7371A-C49F-44C3-A7DF-1F15FDAB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72025"/>
            <a:ext cx="25456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C835B0-84D5-4BDC-B8C0-3A4DB361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482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backbone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A3970F-DDDA-4B85-8CB4-2FE4531B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482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0.193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15B90B-E9A2-4BD6-BA6A-EF04F6F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19675"/>
            <a:ext cx="3562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AD338E1-108C-4E87-AC67-7A840A1E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19675"/>
            <a:ext cx="8056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AA84AEB-5F49-4EAF-AA96-817B6A83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95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proposed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9CF40C-675D-499D-8C79-B76ABA76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958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0.061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38E254B-6989-42F9-A3E6-A70CF7AC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81150"/>
            <a:ext cx="48577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4f5514c9345b5"/>
          <a:stretch xmlns:a="http://schemas.openxmlformats.org/drawingml/2006/main"/>
        </p:blipFill>
        <p:spPr>
          <a:xfrm xmlns:a="http://schemas.openxmlformats.org/drawingml/2006/main">
            <a:off x="6096000" y="1798230"/>
            <a:ext cx="4476750" cy="1470840"/>
          </a:xfrm>
          <a:prstGeom xmlns:a="http://schemas.openxmlformats.org/drawingml/2006/main" prst="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E4300BF-B46A-42A2-93A4-C8D1F7E5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time-series proof: adaptive method 在主要轨迹上持续低于 fixed baseline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39F7831-92AB-42DB-90D9-B5FF4D8D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05250"/>
            <a:ext cx="4857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E4E6831-A7D1-425F-9F52-0801D62F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31.98%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4B1ACC3-183C-43B8-B1E6-2BB85BD4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rPr>
              <a:t>OSPA reduction vs fixed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02E2059-EE66-4F58-82C0-58DD76B9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1148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DD6C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DD6C6"/>
                </a:solidFill>
                <a:latin typeface="PingFang SC"/>
                <a:ea typeface="PingFang SC"/>
                <a:cs typeface="PingFang SC"/>
              </a:rPr>
              <a:t>34.57%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56C7D7C-79BB-42F3-A7D1-38A0F66C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720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rPr>
              <a:t>RMSE reduction vs fixed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60F0FA5-8808-4492-9644-3A1B433B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148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1C46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1C46B"/>
                </a:solidFill>
                <a:latin typeface="PingFang SC"/>
                <a:ea typeface="PingFang SC"/>
                <a:cs typeface="PingFang SC"/>
              </a:rPr>
              <a:t>91.46%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CCAA2AF-B456-421E-9FB8-AC3BAA4B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720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rPr>
              <a:t>cardinality reduction vs fixed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A43D690-3863-43A6-BC7F-27D49B24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483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342F796-0BCB-4E74-9DA8-7E3F2433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952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解释口径：FID-FIA baseline 已经是强 cardinality baseline；新的 branch-decoupled fusion 同时超过它和旧 backbone。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817BFB0-7E79-46A8-9603-3BDF3049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7450003-83A9-4937-971A-5781849F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Source: RUN/GA/GA_TIERED_LINK_ABLATION_N20_SEED1_20260512_155714.md; docs/paper/figures/figure4_main_ga_consensus.pdf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2295141-65DC-4797-9E9B-FA026FB5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5169739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7B972B5-0E11-4A18-AA29-8E61CBE4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D2F12439-BD39-4092-8771-BD782C00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09EEEAE4-BCDC-460F-ABD8-4D97FEB0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37083"/>
                </a:solidFill>
                <a:latin typeface="Menlo"/>
                <a:ea typeface="Menlo"/>
                <a:cs typeface="Menlo"/>
              </a:rPr>
              <a:t>SAFEGUARD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F49F3-8AB0-4114-832C-40E7FC26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9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local metrics 说明：一致性提升不是靠错误局部目标数换来的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3C8AB-A519-4A69-BBD1-DEE469E4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61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3ED28-D945-4BCD-B4ED-5C68B21E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240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84A10-D2BD-45FE-A16B-98E1CBFE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24025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E-OSPA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F0475-D759-4F9D-A902-1750B0D5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24025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RMSE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E404A-937A-406C-97B1-6098CA7C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24025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CardErr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0A69D-A443-4895-B3CC-25A4C307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571C8-D119-4108-9F84-C82CB908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812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fixed weights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43DBB-101D-494C-9F57-6DB17015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81225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2.853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4F9F2-B8CD-4C76-A844-0E02F8A2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81225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1.638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1AA7F-A0CD-4B8F-BBE2-536FE3B7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81225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1.455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EA4DEF-C233-423D-A37B-B4C57295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6B9246-EDE7-4673-AAE2-FF6055BD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Scalar FID-FIA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E25341-4B94-409A-A3AF-D219DF18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38425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2.183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E328A8-A03D-4E89-97E2-20DF5DC4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38425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1.716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5648C5-DFA8-4CFF-8777-34768BD3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38425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0.392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C5776E-398B-42C9-905A-DB7ACC50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F675C3-265D-4CDA-BDA7-986D120C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branch-decoupled backbone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5BDCEF-B71B-414F-AB32-B006338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95625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2.329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494E2D-A8C9-41A1-AB4F-72C3E5D1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95625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1.599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C04A8C-0F0B-4BBC-A88B-7D788689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95625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0.579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BBA520-50EA-4351-951F-8EE83DAC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052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AC6306-E149-47B0-A646-A4F786AC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proposed refinement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1C10C7-FD69-4E9B-880B-09773AE4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52825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2.009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6D3355-6A65-4FE8-B626-A9B48A9E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52825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1.705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0FAC1B-B59A-4154-B436-7BA81478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52825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0.222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0911CC-52AA-4319-8548-D8BB1908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76400"/>
            <a:ext cx="3714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364DA1-EF73-4EA3-9943-885F8388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240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B0BE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7B0BE"/>
                </a:solidFill>
                <a:latin typeface="Menlo"/>
                <a:ea typeface="Menlo"/>
                <a:cs typeface="Menlo"/>
              </a:rPr>
              <a:t>safeguard verdict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A6717F-296B-4F94-B14A-DE2E127A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best local E-OSPA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best local CardErr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0F13EF-3451-4ABD-B9AD-F3B385A6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7180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CED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C8CED8"/>
                </a:solidFill>
                <a:latin typeface="PingFang SC"/>
                <a:ea typeface="PingFang SC"/>
                <a:cs typeface="PingFang SC"/>
              </a:rPr>
              <a:t>local RMSE 不如旧 backbone，但仍略优于 scalar FID-FIA baseline。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42C0AC-26B3-442D-849D-85E83C27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434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fixed CardErr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984BD2-D2A0-4D80-93FE-230C3812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00550"/>
            <a:ext cx="2743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9293EC-3E97-43B8-B4B5-FE43FF58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00550"/>
            <a:ext cx="257418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1B5A6D-CEB2-44A3-B02D-A63601C1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338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1.455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094669-723D-4534-98EF-804C1801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4863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FID-FIA CardErr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ABEB2C-2143-4EEB-A391-2BE49A27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72013"/>
            <a:ext cx="2743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D69DFE-5A24-47CB-A893-046B3F8F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72013"/>
            <a:ext cx="69431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6FF45E-82FC-4DDC-9DDC-98459674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05338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0.392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D984A6-A65E-452F-B79C-A1DBAE54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863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backbone CardErr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2579F1-D5EC-47A1-AC38-AF81FEAA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43475"/>
            <a:ext cx="2743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D3E0A9-B703-47F8-A6F6-1F389D99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43475"/>
            <a:ext cx="1024166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EAFF44-9B9B-4321-BCAE-2767C025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768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0.579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38F3A8-4783-4867-99A6-ED18D64D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57788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proposed CardErr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36C49C-58B0-499B-8FAE-915A5A35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214938"/>
            <a:ext cx="2743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E23E55-98E4-4671-A2C9-8074FBFE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214938"/>
            <a:ext cx="392124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C86D3F-2917-40B7-BE5D-56AE5FE7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48263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0.222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ECF438A-FE90-4C89-9C24-88018EC6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286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0C0651-E165-4550-843D-5876BB74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24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5F3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B65F38"/>
                </a:solidFill>
                <a:latin typeface="Menlo"/>
                <a:ea typeface="Menlo"/>
                <a:cs typeface="Menlo"/>
              </a:rPr>
              <a:t>讲法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80A81B-369C-44E4-8311-31BC4392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29150"/>
            <a:ext cx="3638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最终方法的 cardinality consensus 优势，同时体现在 truth-referenced local CardErr 上；这比只展示 consensus 更容易 defend。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3A4BD40-BABD-44B9-8994-B192337C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2930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998C97-D533-4668-9AF6-FDE92052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48375"/>
            <a:ext cx="962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因此结论应写成“consensus-first with local safeguards”，不要写成所有 local metric 无条件全面提升。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2A06C3D-A606-4565-AEAA-7707DEA8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EC19F8-7076-4157-8FEB-1D2769F2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Source: RUN/GA/GA_TIERED_LINK_ABLATION_N20_SEED1_20260512_155714.md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149241-933D-4623-9AC7-276205CD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295115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A5B5A6C-0D80-4D9A-8F44-8479CAA3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F050C04F-564E-4226-A9A7-5AE42E67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F5938DEE-1899-410D-BE89-FFE94468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37083"/>
                </a:solidFill>
                <a:latin typeface="Menlo"/>
                <a:ea typeface="Menlo"/>
                <a:cs typeface="Menlo"/>
              </a:rPr>
              <a:t>ABLATION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24700-D95E-4341-9BE5-4A4D293D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消融表明：link quality 是最大通信增益，FID-FIA existence cue 给最终跨越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7F0BF-6FAE-4D5F-BDFE-4FAB9899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10287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07631841c4d01"/>
          <a:stretch xmlns:a="http://schemas.openxmlformats.org/drawingml/2006/main"/>
        </p:blipFill>
        <p:spPr>
          <a:xfrm xmlns:a="http://schemas.openxmlformats.org/drawingml/2006/main">
            <a:off x="3579611" y="1676400"/>
            <a:ext cx="4232677" cy="1390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64409-14D7-4091-823E-241A8442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0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04B36-6552-4273-9D3B-5F95D6F9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37083"/>
                </a:solidFill>
                <a:latin typeface="Menlo"/>
                <a:ea typeface="Menlo"/>
                <a:cs typeface="Menlo"/>
              </a:rPr>
              <a:t>fixed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D73C6-D731-4AC1-A4E5-FCE89049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95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2.448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24343-9F71-4818-80BD-611F9CEE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OSPA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5F3CB-7F25-42EA-B148-144D3BF7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0.679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C8EB3-9931-48C1-83E3-FD69C8D8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CARD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1BC72-55E2-43F0-9280-C21D28D6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577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68CA8-CABA-467A-B6DF-379855C8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528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B550F5-909F-4CFB-8480-0F21BC3C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433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B87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176B87"/>
                </a:solidFill>
                <a:latin typeface="Menlo"/>
                <a:ea typeface="Menlo"/>
                <a:cs typeface="Menlo"/>
              </a:rPr>
              <a:t>cov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32759-4AF3-4746-A00D-D92F5A5E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862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95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2.082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36ECF2-5180-4AB4-ACE2-8661CBA8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101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OSPA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7F0963-FEAF-4476-BF22-344E0F91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339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0.458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5C9BA1-375A-4405-8E2B-D4EABE68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006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CARD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7208C3-1A6E-4D55-91EB-C9921D8E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577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FC77DA-5FD6-4A5B-8490-C8A65F13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528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A5034D-DC43-4454-A589-37734F65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7D6B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2E7D6B"/>
                </a:solidFill>
                <a:latin typeface="Menlo"/>
                <a:ea typeface="Menlo"/>
                <a:cs typeface="Menlo"/>
              </a:rPr>
              <a:t>+link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5BF0DC-2025-4473-96DE-09A494E1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95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1.830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33587C-EC36-4895-A8FE-EE177318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101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OSPA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76F8EF-7923-4D29-9ED9-4BBB198A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339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0.231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C4D2AD-6AEF-484B-8E7A-F70573E5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006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CARD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EFE80D-1545-4551-8411-A6B67A3C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577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081758-7628-48DF-9DF8-ABD03251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528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E7A0EA-E1E9-4BB4-A92E-187D85FF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433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8A24A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C8A24A"/>
                </a:solidFill>
                <a:latin typeface="Menlo"/>
                <a:ea typeface="Menlo"/>
                <a:cs typeface="Menlo"/>
              </a:rPr>
              <a:t>+exist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642D1F-4D4E-4692-9747-A9979436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862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95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1.830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4C569E-9862-445E-845F-191A59F0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101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OSPA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B14DD2-2E71-449C-AC78-F12DD388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9339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0.231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C3B755-5BB2-4340-8A2A-5A8E6570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006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CARD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07DAF8-F05A-4F66-B8F2-53ACE46E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577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D845E6-2F4E-486D-9D10-7A4BD13F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528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E9F09F-0D82-414E-B7E2-031B0C90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433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B87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176B87"/>
                </a:solidFill>
                <a:latin typeface="Menlo"/>
                <a:ea typeface="Menlo"/>
                <a:cs typeface="Menlo"/>
              </a:rPr>
              <a:t>decoupled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A7238F-4C59-47E1-BED8-1BF3A7C2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862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95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1.821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5BBFBD-1498-4D0F-B948-7AA91417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101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OSPA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E7DDD4-D7CD-4F4B-A999-327020A0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9339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0.232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9548BA-F429-43C1-AE41-E70D6F55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2006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CARD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7E5C41-3301-4870-9B55-6C135ABA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577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F01E49-4A39-49ED-97B3-4136553B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528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6123CE-D3BB-4D43-9A7F-66CF13E7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433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65F38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B65F38"/>
                </a:solidFill>
                <a:latin typeface="Menlo"/>
                <a:ea typeface="Menlo"/>
                <a:cs typeface="Menlo"/>
              </a:rPr>
              <a:t>proposed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2040D1-4E91-4B94-8188-A849157F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862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95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1.669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C65C81-9829-4BC7-A489-118549E9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101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OSPA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3F6AF0-5D45-43FF-AEE3-B5443765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339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0.061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284531-2A7C-4BD6-9815-89C36001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006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CARD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4FEC4D-4583-4BD7-994A-1B57A5CB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981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9EE8D7-583E-4035-A38C-439956C0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0072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5F38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B65F38"/>
                </a:solidFill>
                <a:latin typeface="Menlo"/>
                <a:ea typeface="Menlo"/>
                <a:cs typeface="Menlo"/>
              </a:rPr>
              <a:t>读法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3B9690-C7E7-4A4E-B031-38AF435E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5310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covariance 必要但不充分；link quality 带来最大通信增益；20-trial 下 existence confidence 的结论要收窄；最终 FID-FIA existence 分支给 cardinality 跨越。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ED4AE5-CEDA-4B21-A4F0-56BBFB66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80BF80-F465-4408-A467-CED7D106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Source: RUN/GA/GA_TIERED_LINK_ABLATION_MAIN20_20260507.md; docs/paper/els-cas-templates/sections/06_results.tex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977481F-240E-4C48-8D56-CF201396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09598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98E853E-9066-4BAD-8DDB-9C917F6B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243D6C37-2AF6-46FC-876D-2BD24CE9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4A07D218-F764-4D72-8A22-290F574B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37083"/>
                </a:solidFill>
                <a:latin typeface="Menlo"/>
                <a:ea typeface="Menlo"/>
                <a:cs typeface="Menlo"/>
              </a:rPr>
              <a:t>SUPPORTING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FD012-5A30-43D0-979C-D795CA26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理想通信下仍有效：方法不是只在补救 packet loss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008FF-7A44-4AC9-A1C7-777D7C46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048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4193fe8d14280"/>
          <a:stretch xmlns:a="http://schemas.openxmlformats.org/drawingml/2006/main"/>
        </p:blipFill>
        <p:spPr>
          <a:xfrm xmlns:a="http://schemas.openxmlformats.org/drawingml/2006/main">
            <a:off x="1350321" y="1600200"/>
            <a:ext cx="3471559" cy="1428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8191B-3960-4BF9-8405-097D5264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287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0F71E-12BB-4CF9-8CAC-ABED761A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FB9D2-745B-4F4A-B6CA-9F80369A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OSPA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19F5B-A422-4F71-91CB-114848B1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47637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RMSE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66F48-045B-4AC2-BCDA-2BFB4A07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47637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D9D3A-DE32-4236-8445-D7956B4A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90700"/>
            <a:ext cx="434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80866-BE4D-4B30-9553-2A1D60F1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3832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Ordinary GA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E40346-9920-438A-91A4-05C44248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3832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1.704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6F91E-19AD-44E5-A054-E5A139D3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3832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1.532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DDFCFC-B6B4-444C-9F6C-F06E6908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3832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0.162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2E791-C704-4D42-8C02-ED755063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52650"/>
            <a:ext cx="434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4E97C7-F9C9-41BD-AFD2-E82265E2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027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Branch backbone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AE695F-C1D2-441E-B3D8-71D84670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027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1.482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187D01-EC1A-4ED9-A4D8-F13F9234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027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1.238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61575-6D43-4CC6-A756-5D3F8219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0027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0.132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F16C84-FE0B-4DC3-8677-ED3D6D05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14600"/>
            <a:ext cx="434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3CD070-CA58-4101-9917-B2C4C1A9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6222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Scalar FID-FIA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F43D2A-FA7D-4F8C-BF76-826CBDBD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6222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1.532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CA3C35-E7AA-46AB-89A7-A7194443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1.332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48E2B5-A564-477F-8D2E-07092C9F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6222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0.054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28BD7F-7541-4AC1-8524-B5656BEB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76550"/>
            <a:ext cx="434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B78881-5758-4E65-80DC-7C21DCB5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2417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Proposed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C1ED42-1DEE-48FB-8C9B-8F12015E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2417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1.433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06B84B-E3FF-48B1-8AC7-9BFA63B4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2417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1.309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C6BB63-77BE-486F-8CC8-D95A87E9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24175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0.050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D036F0-E437-4782-90F4-E911BB69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49720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4D5862-D90D-4F49-8FE8-221F4C67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15.9%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B90AA5-270E-412A-815F-A892571E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rPr>
              <a:t>ideal OSPA reduction vs ordinary GA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13D5E9-A57A-49F9-8A54-71213245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624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1C46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1C46B"/>
                </a:solidFill>
                <a:latin typeface="PingFang SC"/>
                <a:ea typeface="PingFang SC"/>
                <a:cs typeface="PingFang SC"/>
              </a:rPr>
              <a:t>69.1%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05C239-FB33-47D7-A379-C071DE7E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196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rPr>
              <a:t>ideal cardinality reduction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BA123A-9F18-4B11-B9F7-737DD16D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624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DD6C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DD6C6"/>
                </a:solidFill>
                <a:latin typeface="PingFang SC"/>
                <a:ea typeface="PingFang SC"/>
                <a:cs typeface="PingFang SC"/>
              </a:rPr>
              <a:t>10.6%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ECF483-8F63-4289-952C-ED7C752F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4196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8CED8"/>
                </a:solidFill>
                <a:latin typeface="PingFang SC"/>
                <a:ea typeface="PingFang SC"/>
                <a:cs typeface="PingFang SC"/>
              </a:rPr>
              <a:t>local E-OSPA reduction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B02E13-A360-48A6-ADD8-EE4A0248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33800"/>
            <a:ext cx="4343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8ED48B-F7DF-4A6E-9A14-0B7D7E01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814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B87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76B87"/>
                </a:solidFill>
                <a:latin typeface="Menlo"/>
                <a:ea typeface="Menlo"/>
                <a:cs typeface="Menlo"/>
              </a:rPr>
              <a:t>AA secondary generalization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611052-F8D3-40D0-BE06-5E22CB0F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consensus OSPA 4.349 -&gt; 3.811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consensus RMSE 19.098 -&gt; 16.472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cardinality 0.421 -&gt; 0.307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FA8129-353F-4B0C-B8E0-2B995A10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864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51D806-58CC-4E37-8123-C3B6EB51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讲法：ideal communication 支撑“更合理的 distributed fusion weighting rule”；AA 只作为外推迹象，不与 GA/KLA 主线并列。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50B25B-FA68-4158-8B72-4071FC02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64DFDC-F766-481F-AB96-4D2757D3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Source: RUN/GA/GA_IDEAL_COMM_MAIN20_PAIRED_20260507.md; RUN/GA/GA_TIERED_LINK_ABLATION_N20_SEED1_20260513_014211.md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8090E8-77B0-4D75-A334-FA9A244E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2093802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C47ED15-6D49-4A7D-8E99-3F604F96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F3B3A7F2-CD77-44F3-9C9C-89349917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CFCE85B8-C6DE-4EDA-BCD5-E0FD97F2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37083"/>
                </a:solidFill>
                <a:latin typeface="Menlo"/>
                <a:ea typeface="Menlo"/>
                <a:cs typeface="Menlo"/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2DAE1-945C-463A-8312-D475E2B6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9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最终可讲的故事：通信约束下，权重分配才是分布式 KLA 的关键杠杆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8DE7A-02BF-40C2-B91E-DDC4E410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48958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9B465-DFA5-4F10-9280-1DF126D4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B0BE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A7B0BE"/>
                </a:solidFill>
                <a:latin typeface="Menlo"/>
                <a:ea typeface="Menlo"/>
                <a:cs typeface="Menlo"/>
              </a:rPr>
              <a:t>keep in main 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D0C33-1C14-4FA5-AE59-755A3440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88E74-1E07-4531-B06B-E42C7BDC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05050"/>
            <a:ext cx="384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fixed KLA weights are brittle under heterogeneous communication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E8757-91E3-4454-89BD-EAEDA79F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C4504-508E-41C7-A6FD-4AAE0947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384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covariance + realized link quality + existence confidence is the backbone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1D2B0-E298-4C15-9F9B-268E6D06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575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806C3-F4CC-4B42-AAC0-0391CAED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09950"/>
            <a:ext cx="384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branch decoupling preserves the spatial path while existence-FID-FIA supplies cardinality gain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6CC28-1078-4389-B88B-BB9D295F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28F11-6F11-4F07-8774-53571FC3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62400"/>
            <a:ext cx="384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consensus metrics are primary; local metrics are safeguards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9C6025-CC34-4485-A991-6138BB42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8115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DBE1A-4894-4C2B-8222-C6C9F9EA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669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5F3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B65F38"/>
                </a:solidFill>
                <a:latin typeface="Menlo"/>
                <a:ea typeface="Menlo"/>
                <a:cs typeface="Menlo"/>
              </a:rPr>
              <a:t>move to appendix or future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F972F-00EB-4457-853C-71B14EFB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52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248B71-A5EF-45D3-9CF4-399FCA92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05050"/>
            <a:ext cx="3752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NIS: plain harmful; robust not better than no-NIS in latest 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CAAF04-3E79-48B7-899C-2BBF08B6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B0F439-961A-4CF5-9845-213AD453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3752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history / freshness: mixed or effectively flat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9602C-DB6C-41D2-A9B0-833388D9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575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CFF702-3263-47A1-B40B-15D46400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9950"/>
            <a:ext cx="3752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association ambiguity / cardinality consensus: pilot-level or negative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72ED0A-3DF1-4A91-8934-3384EF96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7C8ADE-F99C-48FC-9C24-15D7AB74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62400"/>
            <a:ext cx="3752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state-dependent quality + false tracks: useful next scenario, framed as baseline plus perturbations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3677BF-1650-4908-BA9E-4A25AAF1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15FDCE-55AA-4EB4-A7EF-8C83C053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下一步最值得补的不是新模块，而是把 final method 的 paired baseline reuse 和更大 Monte Carlo 统计补齐，再把 4+4 新扰动场景作为 robustness extension。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6000D0-1B0A-4C35-8F2A-AA423A6A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CE94C8-121E-4EC2-8755-4D27287B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Source: docs/paper/README.md; docs/paper/Appendix_B_additional_attempts.md; memory-backed 4+4 framing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45401C-A8E2-4811-AEA5-8339F496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37083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637083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039327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2026-05-13T07:17:27.9870000Z</dcterms:created>
  <dcterms:modified xsi:type="dcterms:W3CDTF">2026-05-13T07:17:27.9870000Z</dcterms:modified>
</coreProperties>
</file>